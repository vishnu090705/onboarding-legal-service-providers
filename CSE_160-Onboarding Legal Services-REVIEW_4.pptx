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0"/>
  </p:notesMasterIdLst>
  <p:sldIdLst>
    <p:sldId id="256" r:id="rId2"/>
    <p:sldId id="257" r:id="rId3"/>
    <p:sldId id="269" r:id="rId4"/>
    <p:sldId id="273" r:id="rId5"/>
    <p:sldId id="268" r:id="rId6"/>
    <p:sldId id="272" r:id="rId7"/>
    <p:sldId id="271" r:id="rId8"/>
    <p:sldId id="281" r:id="rId9"/>
    <p:sldId id="282" r:id="rId10"/>
    <p:sldId id="265" r:id="rId11"/>
    <p:sldId id="285" r:id="rId12"/>
    <p:sldId id="283" r:id="rId13"/>
    <p:sldId id="275" r:id="rId14"/>
    <p:sldId id="276" r:id="rId15"/>
    <p:sldId id="278" r:id="rId16"/>
    <p:sldId id="280" r:id="rId17"/>
    <p:sldId id="284" r:id="rId18"/>
    <p:sldId id="266" r:id="rId1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763F5772-BBD7-4226-92C2-504A8AEC2291}">
          <p14:sldIdLst>
            <p14:sldId id="256"/>
            <p14:sldId id="257"/>
            <p14:sldId id="269"/>
            <p14:sldId id="273"/>
            <p14:sldId id="268"/>
            <p14:sldId id="272"/>
            <p14:sldId id="271"/>
          </p14:sldIdLst>
        </p14:section>
        <p14:section name="Untitled Section" id="{7A315565-231D-403E-BF25-6D4F794B08E1}">
          <p14:sldIdLst>
            <p14:sldId id="281"/>
            <p14:sldId id="282"/>
            <p14:sldId id="265"/>
            <p14:sldId id="285"/>
            <p14:sldId id="283"/>
            <p14:sldId id="275"/>
            <p14:sldId id="276"/>
            <p14:sldId id="278"/>
            <p14:sldId id="280"/>
            <p14:sldId id="284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651C3A-4460-11DB-9652-00E08161165F}">
  <a:tblStyle styleId="{57690726-49DA-4552-BDEB-330DD8EA8BD9}" styleName="Table_0">
    <a:wholeTbl>
      <a:tcTxStyle b="off" i="off"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84" y="2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2169620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14080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32441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52911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48305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67165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436789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942109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124313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84359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3860800" y="274638"/>
            <a:ext cx="772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2" name="Google Shape;52;p7" descr="C:\Users\AMMU\Desktop\Border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505209" y="139874"/>
            <a:ext cx="9686793" cy="6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1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Google Shape;12;p1"/>
          <p:cNvPicPr preferRelativeResize="0"/>
          <p:nvPr/>
        </p:nvPicPr>
        <p:blipFill rotWithShape="1">
          <a:blip r:embed="rId12">
            <a:alphaModFix/>
          </a:blip>
          <a:srcRect b="18046"/>
          <a:stretch/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ijarsct.co.in/Paper25646.pdf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jetir.org/view?paper=JETIR2406832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dakshindia.org/Technology-and-Analytics-for-Law-and-Justice/part21.xhtml" TargetMode="External"/><Relationship Id="rId3" Type="http://schemas.openxmlformats.org/officeDocument/2006/relationships/hyperlink" Target="https://itexus.com/legal-marketplace-development-guide/" TargetMode="External"/><Relationship Id="rId7" Type="http://schemas.openxmlformats.org/officeDocument/2006/relationships/hyperlink" Target="https://iciset.in/Paper2723.pdf" TargetMode="External"/><Relationship Id="rId2" Type="http://schemas.openxmlformats.org/officeDocument/2006/relationships/hyperlink" Target="https://www.sharetribe.com/create/how-to-build-marketplace-for-legal-services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onlinelegalindia.com/blogs/odr-service-providers/" TargetMode="External"/><Relationship Id="rId5" Type="http://schemas.openxmlformats.org/officeDocument/2006/relationships/hyperlink" Target="https://www.infosys.com/industries/publishing/documents/legal-managed-services.pdf" TargetMode="External"/><Relationship Id="rId4" Type="http://schemas.openxmlformats.org/officeDocument/2006/relationships/hyperlink" Target="https://www.taxmann.com/post/blog/legaltech-in-india" TargetMode="External"/><Relationship Id="rId9" Type="http://schemas.openxmlformats.org/officeDocument/2006/relationships/hyperlink" Target="https://ijarsct.co.in/Paper25646.pdf" TargetMode="Externa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taxmann.com/post/blog/legaltech-in-india" TargetMode="External"/><Relationship Id="rId3" Type="http://schemas.openxmlformats.org/officeDocument/2006/relationships/hyperlink" Target="https://www.jetir.org/view?paper=JETIR2406832" TargetMode="External"/><Relationship Id="rId7" Type="http://schemas.openxmlformats.org/officeDocument/2006/relationships/hyperlink" Target="https://blog.privatecircle.co/legal-tech-startups-india-watch/" TargetMode="External"/><Relationship Id="rId2" Type="http://schemas.openxmlformats.org/officeDocument/2006/relationships/hyperlink" Target="https://www.scribd.com/document/711640084/Incentives-based-Design-for-onboarding-Legal-Service-Providers-for-extending-Legal-Services-to-Citizens-in-India-1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scribd.com/document/875148548/Legal-Bharat-Incentive" TargetMode="External"/><Relationship Id="rId5" Type="http://schemas.openxmlformats.org/officeDocument/2006/relationships/hyperlink" Target="https://www.phenom.com/blog/importance-of-onboarding" TargetMode="External"/><Relationship Id="rId4" Type="http://schemas.openxmlformats.org/officeDocument/2006/relationships/hyperlink" Target="https://www.jetir.org/papers/JETIR2312630.pdf" TargetMode="Externa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790469" y="1069102"/>
            <a:ext cx="10363200" cy="962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GB" sz="2400" dirty="0" err="1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LegalEase</a:t>
            </a:r>
            <a:r>
              <a:rPr lang="en-GB" sz="2400" dirty="0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(App For Onboarding Legal Services)</a:t>
            </a:r>
            <a:endParaRPr sz="2400" dirty="0">
              <a:solidFill>
                <a:schemeClr val="tx1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790468" y="2045352"/>
            <a:ext cx="4391131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>
              <a:spcBef>
                <a:spcPts val="0"/>
              </a:spcBef>
            </a:pPr>
            <a:r>
              <a:rPr lang="en-GB" sz="18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Batch Number: </a:t>
            </a:r>
            <a:r>
              <a:rPr lang="en-GB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CSE_160</a:t>
            </a:r>
            <a:endParaRPr sz="18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6480195" y="2513340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Under the Supervision of,</a:t>
            </a:r>
          </a:p>
          <a:p>
            <a:pPr>
              <a:buClr>
                <a:srgbClr val="17365D"/>
              </a:buClr>
              <a:buSzPts val="2000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Mr. </a:t>
            </a:r>
            <a:r>
              <a:rPr lang="en-IN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Thatimakula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Saikumar – Assistant Professor</a:t>
            </a:r>
            <a:endParaRPr sz="18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Ms. Saiqa Khan - </a:t>
            </a:r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Assistant Professor</a:t>
            </a:r>
            <a:endParaRPr lang="en-IN" sz="1800" dirty="0">
              <a:solidFill>
                <a:schemeClr val="tx1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0" marR="0" lvl="0" indent="0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800" b="1" i="0" strike="noStrike" cap="none" dirty="0">
                <a:solidFill>
                  <a:srgbClr val="17365D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School of Computer Science and Engineering</a:t>
            </a:r>
            <a:endParaRPr sz="18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0" marR="0" lvl="0" indent="0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800" b="1" i="0" strike="noStrike" cap="none" dirty="0">
                <a:solidFill>
                  <a:srgbClr val="17365D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Presidency University</a:t>
            </a:r>
            <a:endParaRPr sz="18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graphicFrame>
        <p:nvGraphicFramePr>
          <p:cNvPr id="89" name="Google Shape;89;p13"/>
          <p:cNvGraphicFramePr/>
          <p:nvPr>
            <p:extLst>
              <p:ext uri="{D42A27DB-BD31-4B8C-83A1-F6EECF244321}">
                <p14:modId xmlns:p14="http://schemas.microsoft.com/office/powerpoint/2010/main" val="427282265"/>
              </p:ext>
            </p:extLst>
          </p:nvPr>
        </p:nvGraphicFramePr>
        <p:xfrm>
          <a:off x="553347" y="2721840"/>
          <a:ext cx="5418675" cy="3017580"/>
        </p:xfrm>
        <a:graphic>
          <a:graphicData uri="http://schemas.openxmlformats.org/drawingml/2006/table">
            <a:tbl>
              <a:tblPr firstRow="1" bandRow="1">
                <a:noFill/>
                <a:tableStyleId>{57690726-49DA-4552-BDEB-330DD8EA8BD9}</a:tableStyleId>
              </a:tblPr>
              <a:tblGrid>
                <a:gridCol w="208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6243"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Roll Number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 Name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ea typeface="Bookman Old Style"/>
                          <a:cs typeface="Times New Roman" panose="02020603050405020304" pitchFamily="18" charset="0"/>
                          <a:sym typeface="Arial"/>
                        </a:rPr>
                        <a:t>20221CSE0090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ea typeface="Bookman Old Style"/>
                          <a:cs typeface="Times New Roman" panose="02020603050405020304" pitchFamily="18" charset="0"/>
                          <a:sym typeface="Arial"/>
                        </a:rPr>
                        <a:t>20221CSE0195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ea typeface="Bookman Old Style"/>
                          <a:cs typeface="Times New Roman" panose="02020603050405020304" pitchFamily="18" charset="0"/>
                          <a:sym typeface="Arial"/>
                        </a:rPr>
                        <a:t>20221CSE0225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Bookman Old Style"/>
                          <a:cs typeface="Times New Roman" panose="02020603050405020304" pitchFamily="18" charset="0"/>
                          <a:sym typeface="Arial"/>
                        </a:rPr>
                        <a:t>Vishnu. P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chemeClr val="dk1"/>
                          </a:solidFill>
                          <a:latin typeface="+mj-lt"/>
                          <a:ea typeface="Bookman Old Style"/>
                          <a:cs typeface="Bookman Old Style"/>
                          <a:sym typeface="Arial"/>
                        </a:rPr>
                        <a:t> </a:t>
                      </a:r>
                      <a:r>
                        <a:rPr lang="en-US" sz="1800" b="0" i="0" u="none" strike="noStrike" cap="none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Bookman Old Style"/>
                          <a:cs typeface="Times New Roman" panose="02020603050405020304" pitchFamily="18" charset="0"/>
                          <a:sym typeface="Arial"/>
                        </a:rPr>
                        <a:t>Vasista. S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Bookman Old Style"/>
                          <a:cs typeface="Times New Roman" panose="02020603050405020304" pitchFamily="18" charset="0"/>
                          <a:sym typeface="Arial"/>
                        </a:rPr>
                        <a:t>Dhanush. A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1" name="Google Shape;91;p13"/>
          <p:cNvSpPr txBox="1"/>
          <p:nvPr/>
        </p:nvSpPr>
        <p:spPr>
          <a:xfrm>
            <a:off x="2832225" y="136441"/>
            <a:ext cx="5498973" cy="72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dirty="0">
                <a:solidFill>
                  <a:srgbClr val="17365D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CSE7101-</a:t>
            </a:r>
            <a:r>
              <a:rPr lang="en-GB" sz="1800" b="1" i="0" u="none" strike="noStrike" cap="none" dirty="0">
                <a:solidFill>
                  <a:srgbClr val="17365D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 Capstone Project</a:t>
            </a:r>
            <a:endParaRPr sz="18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0" marR="0" lvl="0" indent="0" algn="ctr" rtl="0">
              <a:spcBef>
                <a:spcPts val="31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Review-4</a:t>
            </a:r>
            <a:endParaRPr sz="1800" b="1" i="0" u="none" strike="noStrike" cap="none" dirty="0">
              <a:solidFill>
                <a:srgbClr val="17365D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0" y="4533900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Clr>
                <a:srgbClr val="17365D"/>
              </a:buClr>
              <a:buSzPct val="100000"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Name of the Program: </a:t>
            </a: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Computer Science and Engineering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Name of the HoD: </a:t>
            </a:r>
            <a:r>
              <a:rPr lang="en-US" sz="18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Dr.Asif</a:t>
            </a: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 Mohammed , </a:t>
            </a:r>
            <a:r>
              <a:rPr lang="en-US" sz="18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Dr.Blessed</a:t>
            </a: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 Prince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Name of the Program Project Coordinator: </a:t>
            </a:r>
            <a:r>
              <a:rPr lang="en-US" sz="18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Dr.Jayavadivel</a:t>
            </a: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 Ravi , </a:t>
            </a:r>
            <a:r>
              <a:rPr lang="en-US" sz="18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Mr.Muthuraju</a:t>
            </a: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 V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Name of the School Project Coordinators: 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Dr.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Sampath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 A K , Dr.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Geetha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 A </a:t>
            </a:r>
            <a:endParaRPr sz="1800" b="1" i="0" u="none" strike="noStrike" cap="none" dirty="0">
              <a:solidFill>
                <a:schemeClr val="tx1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  <a:sym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Content</a:t>
            </a:r>
            <a:endParaRPr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570940" y="1164615"/>
            <a:ext cx="10668000" cy="477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6400" dirty="0" err="1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Github</a:t>
            </a:r>
            <a:r>
              <a:rPr lang="en-US" sz="64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link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64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Abstract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64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Literature Survey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64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Objectives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64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Algorithms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64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Proposed method &amp; Feasibility study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64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User Flow Diagram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64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Modules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64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Timeline of the Project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64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References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Problem Statement Number: </a:t>
            </a: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PSCS-39</a:t>
            </a:r>
            <a:r>
              <a:rPr lang="en-GB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endParaRPr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18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Git-hub Link : </a:t>
            </a:r>
            <a:r>
              <a:rPr lang="en-US" altLang="en-US" sz="1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https://github.com/vishnu090705/Onboarding-legal-service-providers.git </a:t>
            </a:r>
          </a:p>
          <a:p>
            <a:pPr marL="342900" lvl="0" indent="-190500" algn="just">
              <a:spcBef>
                <a:spcPts val="0"/>
              </a:spcBef>
              <a:buNone/>
            </a:pPr>
            <a:endParaRPr lang="en-US" sz="1800" b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342900" lvl="0" indent="-190500" algn="just">
              <a:spcBef>
                <a:spcPts val="0"/>
              </a:spcBef>
              <a:buNone/>
            </a:pPr>
            <a:r>
              <a:rPr lang="en-US" sz="18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Category  </a:t>
            </a:r>
            <a:r>
              <a:rPr lang="en-US" sz="18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: Software</a:t>
            </a:r>
          </a:p>
          <a:p>
            <a:pPr marL="76200" indent="0">
              <a:buNone/>
            </a:pPr>
            <a:endParaRPr lang="en-US" sz="18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76200" indent="0">
              <a:buNone/>
            </a:pPr>
            <a:r>
              <a:rPr lang="en-US" sz="18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Abstract :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develops a secure Android application for onboarding Legal Service Provider to ensure authenticity and trust. Existing portals fail to provide simplified, accessible, and timely updates, resulting in missed opportunities. 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incentive-based gamification model encourages professional participation, while citizens gain transparent access to verified legal services through a reliable digital marketplace.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expected outcome is a transparent, secure, and user-friendly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eMarketplace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enhances citizen trust, improves access to legal services, and ensures better engagement of professionals. The project also offers real-world exposure to full-stack mobile development, authentication systems, and incentive-based platform design.</a:t>
            </a:r>
          </a:p>
        </p:txBody>
      </p:sp>
    </p:spTree>
    <p:extLst>
      <p:ext uri="{BB962C8B-B14F-4D97-AF65-F5344CB8AC3E}">
        <p14:creationId xmlns:p14="http://schemas.microsoft.com/office/powerpoint/2010/main" val="21434518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51258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7620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[10] Nyaya Shastra: E-Platform for Legal Providers," IJARSCT, 2024</a:t>
            </a:r>
          </a:p>
          <a:p>
            <a:r>
              <a:rPr lang="en-US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Link: </a:t>
            </a:r>
            <a:r>
              <a:rPr lang="en-US" sz="18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https://ijarsct.co.in/Paper25646.pdf</a:t>
            </a:r>
            <a:endParaRPr lang="en-US" sz="18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[12]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Karnale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P.R., Chavan, S.R.,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Chougale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A.B., Patil, A.A., Jamadar, S.S. (2023), "Incentives based Design for onboarding Legal Service Providers for Extending Legal Services.“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Link: </a:t>
            </a:r>
            <a:r>
              <a:rPr lang="en-US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https://www.scribd.com/document/711640084/Incentives-based-Design-for-onboarding-Legal-Service-Providers-for-extending-Legal-Services-to-Citizens-in-India-1</a:t>
            </a:r>
          </a:p>
          <a:p>
            <a:pPr marL="7620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[15]LEGAL SAHYOG HUB: JETIR2406832, "Incentives Based Design For Onboarding Legal Service Providers.”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Link: </a:t>
            </a:r>
            <a:r>
              <a:rPr lang="en-US" sz="18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https://www.jetir.org/view?paper=JETIR2406832</a:t>
            </a:r>
            <a:endParaRPr lang="en-US" sz="18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[18]Legal Bharat Incentive,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Legalbharat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Link : https://www.scribd.com/document/875148548/Legal-Bharat-Incentive</a:t>
            </a:r>
            <a:endParaRPr lang="en-US" sz="18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sz="1800" dirty="0">
              <a:latin typeface="+mj-lt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sz="1800" dirty="0">
              <a:latin typeface="+mj-lt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1800" dirty="0">
              <a:latin typeface="+mj-lt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08161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115;p17"/>
          <p:cNvSpPr txBox="1">
            <a:spLocks/>
          </p:cNvSpPr>
          <p:nvPr/>
        </p:nvSpPr>
        <p:spPr>
          <a:xfrm>
            <a:off x="965200" y="12954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Google Shape;115;p17"/>
          <p:cNvSpPr txBox="1">
            <a:spLocks/>
          </p:cNvSpPr>
          <p:nvPr/>
        </p:nvSpPr>
        <p:spPr>
          <a:xfrm>
            <a:off x="812800" y="1143000"/>
            <a:ext cx="10668000" cy="41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lvl="0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secure Android application that enables Legal Service Providers (LSPs) such as advocates, notaries, and mediators to onboard digitally with proper authentication.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sz="1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Ensure transparency and accessibility by providing real-time updates on service requests, provider availability, and feedback.</a:t>
            </a:r>
          </a:p>
          <a:p>
            <a:pPr lvl="0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and implement an incentive-based system (badges, rewards, rankings) that motivates legal professionals to actively participate and maintain service quality.</a:t>
            </a:r>
          </a:p>
          <a:p>
            <a:pPr lvl="0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citizens with a user-friendly interface to search, filter, and connect with verified legal service providers, while allowing admins to monitor onboarding and approvals.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63573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Algorithms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76200" indent="0">
              <a:lnSpc>
                <a:spcPct val="120000"/>
              </a:lnSpc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Resource Allocation (Avoid Double-Booking)</a:t>
            </a:r>
          </a:p>
          <a:p>
            <a:pPr>
              <a:lnSpc>
                <a:spcPct val="12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Reliable booking engine—no overlapping bookings, respect working hours, support recurring slots.</a:t>
            </a:r>
          </a:p>
          <a:p>
            <a:pPr marL="76200" indent="0">
              <a:lnSpc>
                <a:spcPct val="120000"/>
              </a:lnSpc>
              <a:buNone/>
            </a:pPr>
            <a:r>
              <a:rPr lang="en-US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Concepts used:</a:t>
            </a:r>
          </a:p>
          <a:p>
            <a:pPr>
              <a:lnSpc>
                <a:spcPct val="12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Array List / Hash Maps</a:t>
            </a:r>
          </a:p>
          <a:p>
            <a:pPr marL="76200" indent="0">
              <a:buNone/>
            </a:pPr>
            <a:r>
              <a:rPr lang="en-US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it works: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 an interval tree (or segment tree) of booked slots per provider.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check availability, search for any overlapping intervals. Insert/delete in log time.</a:t>
            </a:r>
          </a:p>
          <a:p>
            <a:pPr marL="76200" indent="0">
              <a:buNone/>
            </a:pPr>
            <a:r>
              <a:rPr lang="en-US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We Use: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Prevents double-booking of providers 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trust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citizens won’t see providers cancel due to conflicts.</a:t>
            </a:r>
          </a:p>
          <a:p>
            <a:pPr marL="76200" indent="0">
              <a:buNone/>
            </a:pPr>
            <a:endParaRPr lang="en-US" sz="18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>
              <a:buNone/>
            </a:pPr>
            <a:endParaRPr lang="en-US" sz="25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5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88325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591207" y="274638"/>
            <a:ext cx="10889593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Proposed method &amp; Feasibility study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43454" y="850769"/>
            <a:ext cx="10429955" cy="7246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7620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Method: </a:t>
            </a:r>
          </a:p>
          <a:p>
            <a:pPr marL="7620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solution is the “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LegalEase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 Progressive App. Its innovation lies in its integrated,     accessible, and user-centric design: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Incentive-Based Engagement System Gamification features such as badges, points, and rankings to motivate professionals.</a:t>
            </a:r>
          </a:p>
          <a:p>
            <a:pPr lvl="0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Cloud-Backed Storage and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APIsFirebase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AWS S3 for secure document and image storage. </a:t>
            </a:r>
          </a:p>
          <a:p>
            <a:pPr lvl="0"/>
            <a:r>
              <a:rPr lang="en-US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Feasibility: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can be implemented using widely available technologies like Android Studio (Java) for mobile development, Firebase/AWS for secure storage.</a:t>
            </a:r>
          </a:p>
          <a:p>
            <a:pPr lvl="0"/>
            <a:r>
              <a:rPr lang="en-US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Economic Feasibility: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Deployment on cloud services can be scaled as needed, ensuring cost-effectiveness for prototype and real-world usage.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1800" dirty="0">
              <a:latin typeface="+mj-lt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04557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7F3C5-B226-FE19-D501-A35F8F478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Flow Diagram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CBC2527-3575-84AC-EF79-3CB8DC6CCA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1078265"/>
            <a:ext cx="4715108" cy="4964836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F7C724-3187-D333-6A42-B4F892FBAD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 flipH="1">
            <a:off x="1278384" y="1012054"/>
            <a:ext cx="4172502" cy="4971495"/>
          </a:xfrm>
        </p:spPr>
        <p:txBody>
          <a:bodyPr>
            <a:normAutofit/>
          </a:bodyPr>
          <a:lstStyle/>
          <a:p>
            <a:pPr marL="76200" indent="0">
              <a:buNone/>
            </a:pPr>
            <a:r>
              <a:rPr lang="en-US" dirty="0"/>
              <a:t>  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347519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9A7DF-22A3-A946-1732-29798E9B1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Flow Diagram continue….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EAB7C4-2918-4FB4-1363-7F53A0ABD9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2799" y="1143001"/>
            <a:ext cx="10772559" cy="4112580"/>
          </a:xfrm>
        </p:spPr>
        <p:txBody>
          <a:bodyPr>
            <a:normAutofit/>
          </a:bodyPr>
          <a:lstStyle/>
          <a:p>
            <a:pPr marL="7620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User Flow Diagram illustrates the interaction between different stakeholders of the E-Marketplace for Legal Services platform. It explains how both citizens (users) and legal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 providers (lawyers/advocates) navigate through the application.</a:t>
            </a:r>
          </a:p>
          <a:p>
            <a:pPr marL="7620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>
              <a:buNone/>
            </a:pP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Entry Point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Launch App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User opens the mobile or web application.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 / Signup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User authenticates or creates a new account.</a:t>
            </a:r>
          </a:p>
          <a:p>
            <a:pPr marL="76200" indent="0">
              <a:buNone/>
            </a:pP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 Determination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User Role (User / Provider)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App identifies whether the user is a regular user or a service provider.</a:t>
            </a:r>
          </a:p>
          <a:p>
            <a:pPr marL="76200" indent="0">
              <a:buNone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670259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Flow Diagram continue…….</a:t>
            </a:r>
            <a:endParaRPr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45" name="Google Shape;145;p22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124489" cy="3713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7620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Role Flow: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Home Page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Central hub for accessing features like search, notifications, and settings.</a:t>
            </a:r>
          </a:p>
          <a:p>
            <a:pPr lvl="1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Lawyers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Allows users to find legal professionals.</a:t>
            </a:r>
          </a:p>
          <a:p>
            <a:pPr lvl="2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 Appointment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Users can schedule meetings with selected lawyers.</a:t>
            </a:r>
          </a:p>
          <a:p>
            <a:pPr lvl="1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Notifications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Displays updates related to appointments and interactions.</a:t>
            </a:r>
          </a:p>
          <a:p>
            <a:pPr lvl="2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Appointment Status Updates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Shows confirmation, cancellation, or changes.</a:t>
            </a:r>
          </a:p>
          <a:p>
            <a:pPr lvl="1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Settings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Lets users manage their account preferences.</a:t>
            </a:r>
          </a:p>
          <a:p>
            <a:pPr lvl="2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Profile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Displays user details and account info.</a:t>
            </a:r>
          </a:p>
          <a:p>
            <a:pPr lvl="2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Logout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Ends the session and returns to login.</a:t>
            </a:r>
          </a:p>
          <a:p>
            <a:pPr marL="76200" indent="0">
              <a:buNone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D4DCC-708B-59EB-4444-A580FB46C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Flow Diagram continue…….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683704-6874-14D0-76C0-BD34841A66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2800" y="1143001"/>
            <a:ext cx="9911425" cy="3739717"/>
          </a:xfrm>
        </p:spPr>
        <p:txBody>
          <a:bodyPr/>
          <a:lstStyle/>
          <a:p>
            <a:pPr marL="7620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Provider Role Flow: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Home Page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Providers access tools to manage services and user interactions.</a:t>
            </a:r>
          </a:p>
          <a:p>
            <a:pPr lvl="1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Legal Goods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Enables providers to browse or manage legal products or services.</a:t>
            </a:r>
          </a:p>
          <a:p>
            <a:pPr lvl="2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Appointment Requests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View and respond to user appointment bookings.</a:t>
            </a:r>
          </a:p>
          <a:p>
            <a:pPr lvl="2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 Notifications to User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Notify users about updates or confirmations.</a:t>
            </a:r>
          </a:p>
          <a:p>
            <a:pPr lvl="1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Notifications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Shows provider-specific alerts and updates.</a:t>
            </a:r>
          </a:p>
          <a:p>
            <a:pPr lvl="1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Settings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Manage provider account and preferences.</a:t>
            </a:r>
          </a:p>
          <a:p>
            <a:pPr lvl="2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Profile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Displays provider's professional details.</a:t>
            </a:r>
          </a:p>
          <a:p>
            <a:pPr lvl="2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Logout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Ends provider session and returns to login.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313362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D6D09-4655-9FD9-AD96-3691A20BA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Flow Diagram continue…….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906BDF-A4E3-E48E-BD2F-CB2CD6151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2800" y="1143001"/>
            <a:ext cx="10062346" cy="3473387"/>
          </a:xfrm>
        </p:spPr>
        <p:txBody>
          <a:bodyPr>
            <a:normAutofit/>
          </a:bodyPr>
          <a:lstStyle/>
          <a:p>
            <a:pPr marL="76200" indent="0">
              <a:buNone/>
            </a:pP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Libraries and APIs</a:t>
            </a: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Firebase SDK (Authentication +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Firestore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AndroidX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libraries (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AppCompat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Material Components,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ConstraintLayout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RecyclerView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etc.)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Play Services (Google APIs) if you later add location-based lawyer search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Components:</a:t>
            </a: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 Service: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Manages user logins.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Hosting: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entire application is deployed on a cloud provider for reliability and scalability.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646571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C293B-831B-8CC3-D881-84AFB0DF7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601489-9BF4-9780-4CF4-F9A06B1250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2800" y="1143001"/>
            <a:ext cx="10355309" cy="2097349"/>
          </a:xfrm>
        </p:spPr>
        <p:txBody>
          <a:bodyPr>
            <a:normAutofit/>
          </a:bodyPr>
          <a:lstStyle/>
          <a:p>
            <a:pPr lvl="0"/>
            <a:r>
              <a:rPr lang="en-US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Incentive &amp; Gamification Module 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rewards such as badges, points, certificates, and higher visibility for verified LSPs.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Citizen Service Access Module 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citizens to search, filter, and view verified LSP profiles.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Storage &amp; API Module 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Uses Firebase Storage / AWS S3 to store documents.</a:t>
            </a:r>
          </a:p>
          <a:p>
            <a:pPr marL="76200" indent="0">
              <a:buNone/>
            </a:pPr>
            <a:endParaRPr lang="en-IN" sz="1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828032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A1830-9627-1487-A166-456852DFC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Timeline</a:t>
            </a:r>
            <a:r>
              <a:rPr lang="en-IN" dirty="0"/>
              <a:t>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A39DD4-1E03-1EEC-588D-E557FBC85F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8048" y="1143001"/>
            <a:ext cx="10441152" cy="4887308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E891BFE-56B1-6455-0777-369D227C9A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048" y="1143001"/>
            <a:ext cx="10441152" cy="4887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55009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88581-8481-6E8B-E8FF-8FAB28ADD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0D771E-F13B-F105-D9E1-00BD4D3E79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pPr marL="76200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[1]. [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Sharetribe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], "How to build a marketplace for legal services," 2023.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sharetribe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[2].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Itexus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"Legal Marketplace Development: Guide," 2023.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itexus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[3]. "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LegalTech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India – Role of Technology and Legal Education,"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Taxmann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2025.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taxmann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[4]. Infosys, "How a Digital Transformation Enhances the Extended Legal ...," Infosys.com, 2024.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infosys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[5]. "Alternative legal service providers muscle in," Law.asia, 2025.</a:t>
            </a:r>
          </a:p>
          <a:p>
            <a:pPr marL="76200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[6]. "Top 11 ODR Service Providers in India," Online Legal India, 2025.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onlinelegalindia 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[7]. Indian Journal of Law and Technology (IJLT), Vol. 20, Issue 1 (2022).</a:t>
            </a:r>
          </a:p>
          <a:p>
            <a:pPr marL="76200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[8]."Impact of Digital Legal Services on Traditional Law Practice in India," ICISIT,2024.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iciset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[9]. "Startups as disruptors of legal tech in India," Daksh, 2020.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8"/>
              </a:rPr>
              <a:t>dakshindia 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[10]. "Nyaya Shastra: E-Platform for Legal Providers," IJARSCT, 2024.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9"/>
              </a:rPr>
              <a:t>ijarsct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[11]. Legal Kart, "The Rise of Online Lawyer Consultation," LegalKart.com, 2025.</a:t>
            </a:r>
          </a:p>
          <a:p>
            <a:pPr marL="76200" indent="0">
              <a:buNone/>
            </a:pPr>
            <a:endParaRPr lang="en-IN" sz="1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2616241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33E7B-5F0F-6913-329E-A0B82DC2D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 continue…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06CDC8-73D3-7B0E-E404-5A08B9FF9B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pPr marL="7620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[12].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Karnale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P.R., Chavan, S.R.,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Chougale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A.B., Patil, A.A., Jamadar, S.S. (2023), "Incentives based Design for onboarding Legal Service Providers in India,"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IJSREM.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scribd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[13]. "Legal Tech Startups in India,"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PrivateCircle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2025.</a:t>
            </a:r>
          </a:p>
          <a:p>
            <a:pPr marL="7620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[14]. "Online Dispute Resolution Service Providers in India," 2025.</a:t>
            </a:r>
          </a:p>
          <a:p>
            <a:pPr marL="7620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[15]. LEGAL SAHYOG HUB: JETIR2406832, "Incentives Based Design For Onboarding</a:t>
            </a:r>
          </a:p>
          <a:p>
            <a:pPr marL="7620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Legal Service Providers,"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JETIR.org.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jetir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[16]. "Exploring the Significance of Onboarding Process in Higher Education," JETIR.org, 2023.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jetir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[17]. Phenom, "The Importance of Onboarding and How to Get It Right," 2025.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phenom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[18]. Legal Bharat Incentive,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Legalbharat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2025.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scribd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[19].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LawRato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Platform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Overview.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privatecircle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[20]. Legal Service India, Platform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Overview.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scribd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[21]. Gupta, S., "Commercial Disputes and Technology," 2021.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8"/>
              </a:rPr>
              <a:t>taxmann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[22]. Legal Connect, Platform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Overview.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scribd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>
              <a:buNone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>
              <a:buNone/>
            </a:pPr>
            <a:endParaRPr lang="en-IN" sz="16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3401198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71958-F899-C0FE-D86D-581C5B3A34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6DA764-20FF-9975-1B5C-BFB64AC8FD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application successfully bridges the gap between citizens and legal service providers.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Reviews and feedback ensure transparency and trust in the system.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Incentive-based design motivates provider to deliver quality service.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application lays a strong foundation for scalable and reliable legal marketplace.</a:t>
            </a:r>
          </a:p>
          <a:p>
            <a:pPr marL="76200" indent="0">
              <a:buNone/>
            </a:pPr>
            <a:r>
              <a:rPr lang="en-IN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Future Work 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rating &amp; review analytics (average rating, top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providers).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push notifications using Firebase Cloud Messaging.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40144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63A00FF-89F0-DC87-D900-930227B33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ioinformatic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514</TotalTime>
  <Words>1629</Words>
  <Application>Microsoft Office PowerPoint</Application>
  <PresentationFormat>Widescreen</PresentationFormat>
  <Paragraphs>159</Paragraphs>
  <Slides>18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Cambria</vt:lpstr>
      <vt:lpstr>Times New Roman</vt:lpstr>
      <vt:lpstr>Verdana</vt:lpstr>
      <vt:lpstr>Wingdings</vt:lpstr>
      <vt:lpstr>Bioinformatics</vt:lpstr>
      <vt:lpstr>LegalEase(App For Onboarding Legal Services)</vt:lpstr>
      <vt:lpstr>Content</vt:lpstr>
      <vt:lpstr>Problem Statement Number: PSCS-39 </vt:lpstr>
      <vt:lpstr>Literature Survey</vt:lpstr>
      <vt:lpstr>Objectives</vt:lpstr>
      <vt:lpstr>Algorithms</vt:lpstr>
      <vt:lpstr>Proposed method &amp; Feasibility study</vt:lpstr>
      <vt:lpstr> Flow Diagram</vt:lpstr>
      <vt:lpstr> Flow Diagram continue….</vt:lpstr>
      <vt:lpstr> Flow Diagram continue…….</vt:lpstr>
      <vt:lpstr> Flow Diagram continue…….</vt:lpstr>
      <vt:lpstr> Flow Diagram continue…….</vt:lpstr>
      <vt:lpstr>Modules</vt:lpstr>
      <vt:lpstr>Timeline </vt:lpstr>
      <vt:lpstr>References</vt:lpstr>
      <vt:lpstr>References continue…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Vishnu Vardhan</cp:lastModifiedBy>
  <cp:revision>46</cp:revision>
  <dcterms:modified xsi:type="dcterms:W3CDTF">2025-11-12T09:43:24Z</dcterms:modified>
</cp:coreProperties>
</file>